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D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AFAFA"/>
                </a:solidFill>
                <a:latin typeface="Calibri"/>
              </a:defRPr>
            </a:pPr>
            <a:r>
              <a:t>QUẢN LÝ PHÒNG KHÁM BỆNH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144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DCDCDC"/>
                </a:solidFill>
                <a:latin typeface="Calibri"/>
              </a:defRPr>
            </a:pPr>
            <a:r>
              <a:t>Báo cáo phân tích hệ thống, kiến trúc kỹ thuật và kịch bản demo thực tế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38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28282"/>
                </a:solidFill>
                <a:latin typeface="Calibri"/>
              </a:defRPr>
            </a:pPr>
            <a:r>
              <a:t>Đồ án Quản Lý Phòng Khám Bệnh - Nhóm thực hiện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48840"/>
            <a:ext cx="5303520" cy="960120"/>
          </a:xfrm>
          <a:prstGeom prst="roundRect">
            <a:avLst/>
          </a:prstGeom>
          <a:solidFill>
            <a:srgbClr val="224A7C"/>
          </a:solidFill>
          <a:ln>
            <a:solidFill>
              <a:srgbClr val="00A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AFAFA"/>
                </a:solidFill>
                <a:latin typeface="Calibri"/>
              </a:defRPr>
            </a:pPr>
            <a:r>
              <a:t>Desktop App Java Swing - RBAC động - Nghiệp vụ phòng khám + nhà thuốc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AFAFA"/>
                </a:solidFill>
                <a:latin typeface="Calibri"/>
              </a:defRPr>
            </a:pPr>
            <a:r>
              <a:t>Nội dung thuyết trình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81818"/>
                </a:solidFill>
                <a:latin typeface="Calibri"/>
              </a:defRPr>
            </a:pPr>
            <a:r>
              <a:t>Bối cảnh bài toán và mục tiêu sản phẩm</a:t>
            </a:r>
          </a:p>
          <a:p>
            <a:pPr>
              <a:spcAft>
                <a:spcPts val="800"/>
              </a:spcAft>
              <a:defRPr sz="2200">
                <a:solidFill>
                  <a:srgbClr val="181818"/>
                </a:solidFill>
                <a:latin typeface="Calibri"/>
              </a:defRPr>
            </a:pPr>
            <a:r>
              <a:t>Kiến trúc hệ thống theo lớp GUI-BUS-DAO-DB</a:t>
            </a:r>
          </a:p>
          <a:p>
            <a:pPr>
              <a:spcAft>
                <a:spcPts val="800"/>
              </a:spcAft>
              <a:defRPr sz="2200">
                <a:solidFill>
                  <a:srgbClr val="181818"/>
                </a:solidFill>
                <a:latin typeface="Calibri"/>
              </a:defRPr>
            </a:pPr>
            <a:r>
              <a:t>Cơ chế phân quyền động RBAC và bảo mật truy cập</a:t>
            </a:r>
          </a:p>
          <a:p>
            <a:pPr>
              <a:spcAft>
                <a:spcPts val="800"/>
              </a:spcAft>
              <a:defRPr sz="2200">
                <a:solidFill>
                  <a:srgbClr val="181818"/>
                </a:solidFill>
                <a:latin typeface="Calibri"/>
              </a:defRPr>
            </a:pPr>
            <a:r>
              <a:t>4 luồng nghiệp vụ trọng tâm theo vai trò người dùng</a:t>
            </a:r>
          </a:p>
          <a:p>
            <a:pPr>
              <a:spcAft>
                <a:spcPts val="800"/>
              </a:spcAft>
              <a:defRPr sz="2200">
                <a:solidFill>
                  <a:srgbClr val="181818"/>
                </a:solidFill>
                <a:latin typeface="Calibri"/>
              </a:defRPr>
            </a:pPr>
            <a:r>
              <a:t>Thiết kế dữ liệu và quan hệ bảng chính</a:t>
            </a:r>
          </a:p>
          <a:p>
            <a:pPr>
              <a:spcAft>
                <a:spcPts val="800"/>
              </a:spcAft>
              <a:defRPr sz="2200">
                <a:solidFill>
                  <a:srgbClr val="181818"/>
                </a:solidFill>
                <a:latin typeface="Calibri"/>
              </a:defRPr>
            </a:pPr>
            <a:r>
              <a:t>Điểm mạnh kỹ thuật, hạn chế và hướng phát triển</a:t>
            </a:r>
          </a:p>
          <a:p>
            <a:pPr>
              <a:spcAft>
                <a:spcPts val="800"/>
              </a:spcAft>
              <a:defRPr sz="2200">
                <a:solidFill>
                  <a:srgbClr val="181818"/>
                </a:solidFill>
                <a:latin typeface="Calibri"/>
              </a:defRPr>
            </a:pPr>
            <a:r>
              <a:t>Kịch bản demo thuyết phục + bộ câu hỏi phản biện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38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28282"/>
                </a:solidFill>
                <a:latin typeface="Calibri"/>
              </a:defRPr>
            </a:pPr>
            <a:r>
              <a:t>Đồ án Quản Lý Phòng Khám Bệnh - Nhóm thực hiện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AFAFA"/>
                </a:solidFill>
                <a:latin typeface="Calibri"/>
              </a:defRPr>
            </a:pPr>
            <a:r>
              <a:t>Bối cảnh và mục tiêu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81818"/>
                </a:solidFill>
                <a:latin typeface="Calibri"/>
              </a:defRPr>
            </a:pPr>
            <a:r>
              <a:t>Phòng khám cần một hệ thống tập trung để quản lý khám bệnh, lịch hẹn, bán thuốc và kho.</a:t>
            </a:r>
          </a:p>
          <a:p>
            <a:pPr>
              <a:spcAft>
                <a:spcPts val="800"/>
              </a:spcAft>
              <a:defRPr sz="2200">
                <a:solidFill>
                  <a:srgbClr val="181818"/>
                </a:solidFill>
                <a:latin typeface="Calibri"/>
              </a:defRPr>
            </a:pPr>
            <a:r>
              <a:t>Mỗi nhóm người dùng có quyền hạn khác nhau: Khách, Bác sĩ, Nhà thuốc, Quản trị.</a:t>
            </a:r>
          </a:p>
          <a:p>
            <a:pPr>
              <a:spcAft>
                <a:spcPts val="800"/>
              </a:spcAft>
              <a:defRPr sz="2200">
                <a:solidFill>
                  <a:srgbClr val="181818"/>
                </a:solidFill>
                <a:latin typeface="Calibri"/>
              </a:defRPr>
            </a:pPr>
            <a:r>
              <a:t>Mục tiêu chính: số hóa quy trình đầu-cuối, giảm sai sót thủ công, kiểm soát trạng thái nghiệp vụ.</a:t>
            </a:r>
          </a:p>
          <a:p>
            <a:pPr>
              <a:spcAft>
                <a:spcPts val="800"/>
              </a:spcAft>
              <a:defRPr sz="2200">
                <a:solidFill>
                  <a:srgbClr val="181818"/>
                </a:solidFill>
                <a:latin typeface="Calibri"/>
              </a:defRPr>
            </a:pPr>
            <a:r>
              <a:t>Mục tiêu kỹ thuật: phân quyền linh hoạt theo dữ liệu, không phải sửa code khi đổi quyền.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38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28282"/>
                </a:solidFill>
                <a:latin typeface="Calibri"/>
              </a:defRPr>
            </a:pPr>
            <a:r>
              <a:t>Đồ án Quản Lý Phòng Khám Bệnh - Nhóm thực hiện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AFAFA"/>
                </a:solidFill>
                <a:latin typeface="Calibri"/>
              </a:defRPr>
            </a:pPr>
            <a:r>
              <a:t>Phạm vi hệ thống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81818"/>
                </a:solidFill>
                <a:latin typeface="Calibri"/>
              </a:defRPr>
            </a:pPr>
            <a:r>
              <a:t>Guest: đặt lịch khám, mua thuốc lẻ, in chứng từ.</a:t>
            </a:r>
          </a:p>
          <a:p>
            <a:pPr>
              <a:spcAft>
                <a:spcPts val="800"/>
              </a:spcAft>
              <a:defRPr sz="2200">
                <a:solidFill>
                  <a:srgbClr val="181818"/>
                </a:solidFill>
                <a:latin typeface="Calibri"/>
              </a:defRPr>
            </a:pPr>
            <a:r>
              <a:t>Doctor: đăng ký lịch làm, xử lý lịch khám, lập bệnh án, kê đơn, xác nhận hóa đơn khám.</a:t>
            </a:r>
          </a:p>
          <a:p>
            <a:pPr>
              <a:spcAft>
                <a:spcPts val="800"/>
              </a:spcAft>
              <a:defRPr sz="2200">
                <a:solidFill>
                  <a:srgbClr val="181818"/>
                </a:solidFill>
                <a:latin typeface="Calibri"/>
              </a:defRPr>
            </a:pPr>
            <a:r>
              <a:t>Pharmacist: quản lý thuốc/NCC, nhập kho theo lô-hạn dùng, bán thuốc và truy vết xuất kho.</a:t>
            </a:r>
          </a:p>
          <a:p>
            <a:pPr>
              <a:spcAft>
                <a:spcPts val="800"/>
              </a:spcAft>
              <a:defRPr sz="2200">
                <a:solidFill>
                  <a:srgbClr val="181818"/>
                </a:solidFill>
                <a:latin typeface="Calibri"/>
              </a:defRPr>
            </a:pPr>
            <a:r>
              <a:t>Admin: dashboard, quản lý danh mục, tài khoản, phân quyền role-permission theo thời gian thực.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38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28282"/>
                </a:solidFill>
                <a:latin typeface="Calibri"/>
              </a:defRPr>
            </a:pPr>
            <a:r>
              <a:t>Đồ án Quản Lý Phòng Khám Bệnh - Nhóm thực hiện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AFAFA"/>
                </a:solidFill>
                <a:latin typeface="Calibri"/>
              </a:defRPr>
            </a:pPr>
            <a:r>
              <a:t>Kiến trúc tổng thể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144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06060"/>
                </a:solidFill>
                <a:latin typeface="Calibri"/>
              </a:defRPr>
            </a:pPr>
            <a:r>
              <a:t>Mô hình nhiều lớp rõ trách nhiệm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38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28282"/>
                </a:solidFill>
                <a:latin typeface="Calibri"/>
              </a:defRPr>
            </a:pPr>
            <a:r>
              <a:t>Đồ án Quản Lý Phòng Khám Bệnh - Nhóm thực hiện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377440"/>
            <a:ext cx="2148840" cy="1005840"/>
          </a:xfrm>
          <a:prstGeom prst="roundRect">
            <a:avLst/>
          </a:prstGeom>
          <a:solidFill>
            <a:srgbClr val="EAF3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181818"/>
                </a:solidFill>
                <a:latin typeface="Calibri"/>
              </a:defRPr>
            </a:pPr>
            <a:r>
              <a:t>GUI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980944" y="2715768"/>
            <a:ext cx="256032" cy="329184"/>
          </a:xfrm>
          <a:prstGeom prst="rightArrow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91840" y="2377440"/>
            <a:ext cx="2148840" cy="1005840"/>
          </a:xfrm>
          <a:prstGeom prst="roundRect">
            <a:avLst/>
          </a:prstGeom>
          <a:solidFill>
            <a:srgbClr val="E0F5F1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181818"/>
                </a:solidFill>
                <a:latin typeface="Calibri"/>
              </a:defRPr>
            </a:pPr>
            <a:r>
              <a:t>BUS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495544" y="2715768"/>
            <a:ext cx="256032" cy="329184"/>
          </a:xfrm>
          <a:prstGeom prst="rightArrow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806440" y="2377440"/>
            <a:ext cx="2148840" cy="1005840"/>
          </a:xfrm>
          <a:prstGeom prst="roundRect">
            <a:avLst/>
          </a:prstGeom>
          <a:solidFill>
            <a:srgbClr val="EAF3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181818"/>
                </a:solidFill>
                <a:latin typeface="Calibri"/>
              </a:defRPr>
            </a:pPr>
            <a:r>
              <a:t>DAO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010144" y="2715768"/>
            <a:ext cx="256032" cy="329184"/>
          </a:xfrm>
          <a:prstGeom prst="rightArrow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321040" y="2377440"/>
            <a:ext cx="2148840" cy="1005840"/>
          </a:xfrm>
          <a:prstGeom prst="roundRect">
            <a:avLst/>
          </a:prstGeom>
          <a:solidFill>
            <a:srgbClr val="E0F5F1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181818"/>
                </a:solidFill>
                <a:latin typeface="Calibri"/>
              </a:defRPr>
            </a:pPr>
            <a:r>
              <a:t>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4048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81818"/>
                </a:solidFill>
                <a:latin typeface="Calibri"/>
              </a:defRPr>
            </a:pPr>
            <a:r>
              <a:t>GUI: hiển thị panel theo route, chặn truy cập khi thiếu quyền.</a:t>
            </a:r>
          </a:p>
          <a:p>
            <a:pPr>
              <a:spcAft>
                <a:spcPts val="800"/>
              </a:spcAft>
              <a:defRPr sz="1700">
                <a:solidFill>
                  <a:srgbClr val="181818"/>
                </a:solidFill>
                <a:latin typeface="Calibri"/>
              </a:defRPr>
            </a:pPr>
            <a:r>
              <a:t>BUS: kiểm tra nghiệp vụ, chuẩn hóa trạng thái, điều phối nhiều DAO.</a:t>
            </a:r>
          </a:p>
          <a:p>
            <a:pPr>
              <a:spcAft>
                <a:spcPts val="800"/>
              </a:spcAft>
              <a:defRPr sz="1700">
                <a:solidFill>
                  <a:srgbClr val="181818"/>
                </a:solidFill>
                <a:latin typeface="Calibri"/>
              </a:defRPr>
            </a:pPr>
            <a:r>
              <a:t>DAO: thao tác SQL có tham số PreparedStatement, ánh xạ ResultSet sang DTO.</a:t>
            </a:r>
          </a:p>
          <a:p>
            <a:pPr>
              <a:spcAft>
                <a:spcPts val="800"/>
              </a:spcAft>
              <a:defRPr sz="1700">
                <a:solidFill>
                  <a:srgbClr val="181818"/>
                </a:solidFill>
                <a:latin typeface="Calibri"/>
              </a:defRPr>
            </a:pPr>
            <a:r>
              <a:t>DB: MySQL + HikariCP để tối ưu kết nối và ổn định khi tải tăng.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AFAFA"/>
                </a:solidFill>
                <a:latin typeface="Calibri"/>
              </a:defRPr>
            </a:pPr>
            <a:r>
              <a:t>Cấu trúc mã nguồn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144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06060"/>
                </a:solidFill>
                <a:latin typeface="Calibri"/>
              </a:defRPr>
            </a:pPr>
            <a:r>
              <a:t>Tổ chức package bám đúng domain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38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28282"/>
                </a:solidFill>
                <a:latin typeface="Calibri"/>
              </a:defRPr>
            </a:pPr>
            <a:r>
              <a:t>Đồ án Quản Lý Phòng Khám Bệnh - Nhóm thực hiện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0A84FF"/>
                </a:solidFill>
                <a:latin typeface="Calibri"/>
              </a:defRPr>
            </a:pPr>
            <a:r>
              <a:t>Gói lõi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32588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0A84FF"/>
                </a:solidFill>
                <a:latin typeface="Calibri"/>
              </a:defRPr>
            </a:pPr>
            <a:r>
              <a:t>Lợi ích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81818"/>
                </a:solidFill>
                <a:latin typeface="Calibri"/>
              </a:defRPr>
            </a:pPr>
            <a:r>
              <a:t>phongkham.gui: giao diện theo module admin/bacsi/guest/nhathuoc</a:t>
            </a:r>
          </a:p>
          <a:p>
            <a:pPr>
              <a:spcAft>
                <a:spcPts val="800"/>
              </a:spcAft>
              <a:defRPr sz="1800">
                <a:solidFill>
                  <a:srgbClr val="181818"/>
                </a:solidFill>
                <a:latin typeface="Calibri"/>
              </a:defRPr>
            </a:pPr>
            <a:r>
              <a:t>phongkham.BUS: xử lý nghiệp vụ và ràng buộc trạng thái</a:t>
            </a:r>
          </a:p>
          <a:p>
            <a:pPr>
              <a:spcAft>
                <a:spcPts val="800"/>
              </a:spcAft>
              <a:defRPr sz="1800">
                <a:solidFill>
                  <a:srgbClr val="181818"/>
                </a:solidFill>
                <a:latin typeface="Calibri"/>
              </a:defRPr>
            </a:pPr>
            <a:r>
              <a:t>phongkham.dao: truy cập CSDL và truy vấn có tham số</a:t>
            </a:r>
          </a:p>
          <a:p>
            <a:pPr>
              <a:spcAft>
                <a:spcPts val="800"/>
              </a:spcAft>
              <a:defRPr sz="1800">
                <a:solidFill>
                  <a:srgbClr val="181818"/>
                </a:solidFill>
                <a:latin typeface="Calibri"/>
              </a:defRPr>
            </a:pPr>
            <a:r>
              <a:t>phongkham.DTO: mô hình dữ liệu trao đổi giữa các tầng</a:t>
            </a:r>
          </a:p>
          <a:p>
            <a:pPr>
              <a:spcAft>
                <a:spcPts val="800"/>
              </a:spcAft>
              <a:defRPr sz="1800">
                <a:solidFill>
                  <a:srgbClr val="181818"/>
                </a:solidFill>
                <a:latin typeface="Calibri"/>
              </a:defRPr>
            </a:pPr>
            <a:r>
              <a:t>phongkham.db: cấu hình pool kết nối</a:t>
            </a:r>
          </a:p>
          <a:p>
            <a:pPr>
              <a:spcAft>
                <a:spcPts val="800"/>
              </a:spcAft>
              <a:defRPr sz="1800">
                <a:solidFill>
                  <a:srgbClr val="181818"/>
                </a:solidFill>
                <a:latin typeface="Calibri"/>
              </a:defRPr>
            </a:pPr>
            <a:r>
              <a:t>phongkham.Utils: session, xuất PDF/CSV, helper dùng chung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73736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81818"/>
                </a:solidFill>
                <a:latin typeface="Calibri"/>
              </a:defRPr>
            </a:pPr>
            <a:r>
              <a:t>Dễ mở rộng từng module độc lập</a:t>
            </a:r>
          </a:p>
          <a:p>
            <a:pPr>
              <a:spcAft>
                <a:spcPts val="800"/>
              </a:spcAft>
              <a:defRPr sz="1800">
                <a:solidFill>
                  <a:srgbClr val="181818"/>
                </a:solidFill>
                <a:latin typeface="Calibri"/>
              </a:defRPr>
            </a:pPr>
            <a:r>
              <a:t>Giảm phụ thuộc chéo giữa GUI và SQL</a:t>
            </a:r>
          </a:p>
          <a:p>
            <a:pPr>
              <a:spcAft>
                <a:spcPts val="800"/>
              </a:spcAft>
              <a:defRPr sz="1800">
                <a:solidFill>
                  <a:srgbClr val="181818"/>
                </a:solidFill>
                <a:latin typeface="Calibri"/>
              </a:defRPr>
            </a:pPr>
            <a:r>
              <a:t>Dễ kiểm tra lỗi theo tầng</a:t>
            </a:r>
          </a:p>
          <a:p>
            <a:pPr>
              <a:spcAft>
                <a:spcPts val="800"/>
              </a:spcAft>
              <a:defRPr sz="1800">
                <a:solidFill>
                  <a:srgbClr val="181818"/>
                </a:solidFill>
                <a:latin typeface="Calibri"/>
              </a:defRPr>
            </a:pPr>
            <a:r>
              <a:t>Thuận lợi chia việc theo nhóm</a:t>
            </a:r>
          </a:p>
          <a:p>
            <a:pPr>
              <a:spcAft>
                <a:spcPts val="800"/>
              </a:spcAft>
              <a:defRPr sz="1800">
                <a:solidFill>
                  <a:srgbClr val="181818"/>
                </a:solidFill>
                <a:latin typeface="Calibri"/>
              </a:defRPr>
            </a:pPr>
            <a:r>
              <a:t>Giữ được tính nhất quán dữ liệu toàn hệ thống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AFAFA"/>
                </a:solidFill>
                <a:latin typeface="Calibri"/>
              </a:defRPr>
            </a:pPr>
            <a:r>
              <a:t>RBAC động: đăng nhập là nạp quyền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81818"/>
                </a:solidFill>
                <a:latin typeface="Calibri"/>
              </a:defRPr>
            </a:pPr>
            <a:r>
              <a:t>Flow: Login -&gt; PermissionBUS.loadPermission(userId) -&gt; Session lưu quyền dạng UPPERCASE.</a:t>
            </a:r>
          </a:p>
          <a:p>
            <a:pPr>
              <a:spcAft>
                <a:spcPts val="800"/>
              </a:spcAft>
              <a:defRPr sz="2200">
                <a:solidFill>
                  <a:srgbClr val="181818"/>
                </a:solidFill>
                <a:latin typeface="Calibri"/>
              </a:defRPr>
            </a:pPr>
            <a:r>
              <a:t>MainFrame.canAccess(route) quyết định cho vào route hay không.</a:t>
            </a:r>
          </a:p>
          <a:p>
            <a:pPr>
              <a:spcAft>
                <a:spcPts val="800"/>
              </a:spcAft>
              <a:defRPr sz="2200">
                <a:solidFill>
                  <a:srgbClr val="181818"/>
                </a:solidFill>
                <a:latin typeface="Calibri"/>
              </a:defRPr>
            </a:pPr>
            <a:r>
              <a:t>Sidebar.buildMenu() dựng menu theo quyền hiện có của người dùng.</a:t>
            </a:r>
          </a:p>
          <a:p>
            <a:pPr>
              <a:spcAft>
                <a:spcPts val="800"/>
              </a:spcAft>
              <a:defRPr sz="2200">
                <a:solidFill>
                  <a:srgbClr val="181818"/>
                </a:solidFill>
                <a:latin typeface="Calibri"/>
              </a:defRPr>
            </a:pPr>
            <a:r>
              <a:t>Admin đổi quyền trong màn hình Phân quyền: tác dụng ngay sau đăng nhập lại, không sửa code GUI.</a:t>
            </a:r>
          </a:p>
          <a:p>
            <a:pPr>
              <a:spcAft>
                <a:spcPts val="800"/>
              </a:spcAft>
              <a:defRPr sz="2200">
                <a:solidFill>
                  <a:srgbClr val="181818"/>
                </a:solidFill>
                <a:latin typeface="Calibri"/>
              </a:defRPr>
            </a:pPr>
            <a:r>
              <a:t>Route đặc biệt QL_DUYET_LICH_LAM dùng mode ADMIN để tăng độ kiểm soát.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38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28282"/>
                </a:solidFill>
                <a:latin typeface="Calibri"/>
              </a:defRPr>
            </a:pPr>
            <a:r>
              <a:t>Đồ án Quản Lý Phòng Khám Bệnh - Nhóm thực hiện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AFAFA"/>
                </a:solidFill>
                <a:latin typeface="Calibri"/>
              </a:defRPr>
            </a:pPr>
            <a:r>
              <a:t>Bản đồ quyền trong hệ thống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144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06060"/>
                </a:solidFill>
                <a:latin typeface="Calibri"/>
              </a:defRPr>
            </a:pPr>
            <a:r>
              <a:t>Ví dụ quyền thực tế đang dùng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38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28282"/>
                </a:solidFill>
                <a:latin typeface="Calibri"/>
              </a:defRPr>
            </a:pPr>
            <a:r>
              <a:t>Đồ án Quản Lý Phòng Khám Bệnh - Nhóm thực hiện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0A84FF"/>
                </a:solidFill>
                <a:latin typeface="Calibri"/>
              </a:defRPr>
            </a:pPr>
            <a:r>
              <a:t>Doctor + Pharmacy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32588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0A84FF"/>
                </a:solidFill>
                <a:latin typeface="Calibri"/>
              </a:defRPr>
            </a:pPr>
            <a:r>
              <a:t>Admin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81818"/>
                </a:solidFill>
                <a:latin typeface="Calibri"/>
              </a:defRPr>
            </a:pPr>
            <a:r>
              <a:t>LICHLAMVIEC_VIEW / LICHLAMVIEC_MANAGE</a:t>
            </a:r>
          </a:p>
          <a:p>
            <a:pPr>
              <a:spcAft>
                <a:spcPts val="800"/>
              </a:spcAft>
              <a:defRPr sz="1800">
                <a:solidFill>
                  <a:srgbClr val="181818"/>
                </a:solidFill>
                <a:latin typeface="Calibri"/>
              </a:defRPr>
            </a:pPr>
            <a:r>
              <a:t>LICHKHAM_VIEW / LICHKHAM_MANAGE</a:t>
            </a:r>
          </a:p>
          <a:p>
            <a:pPr>
              <a:spcAft>
                <a:spcPts val="800"/>
              </a:spcAft>
              <a:defRPr sz="1800">
                <a:solidFill>
                  <a:srgbClr val="181818"/>
                </a:solidFill>
                <a:latin typeface="Calibri"/>
              </a:defRPr>
            </a:pPr>
            <a:r>
              <a:t>HOSO_VIEW / HOSO_MANAGE</a:t>
            </a:r>
          </a:p>
          <a:p>
            <a:pPr>
              <a:spcAft>
                <a:spcPts val="800"/>
              </a:spcAft>
              <a:defRPr sz="1800">
                <a:solidFill>
                  <a:srgbClr val="181818"/>
                </a:solidFill>
                <a:latin typeface="Calibri"/>
              </a:defRPr>
            </a:pPr>
            <a:r>
              <a:t>HOADONKHAM_VIEW / HOADONKHAM_MANAGE</a:t>
            </a:r>
          </a:p>
          <a:p>
            <a:pPr>
              <a:spcAft>
                <a:spcPts val="800"/>
              </a:spcAft>
              <a:defRPr sz="1800">
                <a:solidFill>
                  <a:srgbClr val="181818"/>
                </a:solidFill>
                <a:latin typeface="Calibri"/>
              </a:defRPr>
            </a:pPr>
            <a:r>
              <a:t>THUOC_VIEW / THUOC_MANAGE</a:t>
            </a:r>
          </a:p>
          <a:p>
            <a:pPr>
              <a:spcAft>
                <a:spcPts val="800"/>
              </a:spcAft>
              <a:defRPr sz="1800">
                <a:solidFill>
                  <a:srgbClr val="181818"/>
                </a:solidFill>
                <a:latin typeface="Calibri"/>
              </a:defRPr>
            </a:pPr>
            <a:r>
              <a:t>PHIEUNHAP_VIEW / PHIEUNHAP_MANAGE</a:t>
            </a:r>
          </a:p>
          <a:p>
            <a:pPr>
              <a:spcAft>
                <a:spcPts val="800"/>
              </a:spcAft>
              <a:defRPr sz="1800">
                <a:solidFill>
                  <a:srgbClr val="181818"/>
                </a:solidFill>
                <a:latin typeface="Calibri"/>
              </a:defRPr>
            </a:pPr>
            <a:r>
              <a:t>HOADONTHUOC_VIEW / HOADONTHUOC_CREATE / HOADONTHUOC_MANAGE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73736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81818"/>
                </a:solidFill>
                <a:latin typeface="Calibri"/>
              </a:defRPr>
            </a:pPr>
            <a:r>
              <a:t>DASHBOARD_VIEW</a:t>
            </a:r>
          </a:p>
          <a:p>
            <a:pPr>
              <a:spcAft>
                <a:spcPts val="800"/>
              </a:spcAft>
              <a:defRPr sz="1800">
                <a:solidFill>
                  <a:srgbClr val="181818"/>
                </a:solidFill>
                <a:latin typeface="Calibri"/>
              </a:defRPr>
            </a:pPr>
            <a:r>
              <a:t>USER_VIEW / USER_MANAGE</a:t>
            </a:r>
          </a:p>
          <a:p>
            <a:pPr>
              <a:spcAft>
                <a:spcPts val="800"/>
              </a:spcAft>
              <a:defRPr sz="1800">
                <a:solidFill>
                  <a:srgbClr val="181818"/>
                </a:solidFill>
                <a:latin typeface="Calibri"/>
              </a:defRPr>
            </a:pPr>
            <a:r>
              <a:t>BACSI_VIEW / BACSI_MANAGE</a:t>
            </a:r>
          </a:p>
          <a:p>
            <a:pPr>
              <a:spcAft>
                <a:spcPts val="800"/>
              </a:spcAft>
              <a:defRPr sz="1800">
                <a:solidFill>
                  <a:srgbClr val="181818"/>
                </a:solidFill>
                <a:latin typeface="Calibri"/>
              </a:defRPr>
            </a:pPr>
            <a:r>
              <a:t>KHOA_VIEW / KHOA_MANAGE</a:t>
            </a:r>
          </a:p>
          <a:p>
            <a:pPr>
              <a:spcAft>
                <a:spcPts val="800"/>
              </a:spcAft>
              <a:defRPr sz="1800">
                <a:solidFill>
                  <a:srgbClr val="181818"/>
                </a:solidFill>
                <a:latin typeface="Calibri"/>
              </a:defRPr>
            </a:pPr>
            <a:r>
              <a:t>GOIDICHVU_VIEW / GOIDICHVU_MANAGE</a:t>
            </a:r>
          </a:p>
          <a:p>
            <a:pPr>
              <a:spcAft>
                <a:spcPts val="800"/>
              </a:spcAft>
              <a:defRPr sz="1800">
                <a:solidFill>
                  <a:srgbClr val="181818"/>
                </a:solidFill>
                <a:latin typeface="Calibri"/>
              </a:defRPr>
            </a:pPr>
            <a:r>
              <a:t>ROLE_PERMISSION_VIEW / ROLE_PERMISSION_MANAGE</a:t>
            </a:r>
          </a:p>
          <a:p>
            <a:pPr>
              <a:spcAft>
                <a:spcPts val="800"/>
              </a:spcAft>
              <a:defRPr sz="1800">
                <a:solidFill>
                  <a:srgbClr val="181818"/>
                </a:solidFill>
                <a:latin typeface="Calibri"/>
              </a:defRPr>
            </a:pPr>
            <a:r>
              <a:t>Guest chỉ có 2 route công khai: DAT_LICH, MUA_THUOC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AFAFA"/>
                </a:solidFill>
                <a:latin typeface="Calibri"/>
              </a:defRPr>
            </a:pPr>
            <a:r>
              <a:t>Luồng 1: Khách hàng đặt lịch khám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81818"/>
                </a:solidFill>
                <a:latin typeface="Calibri"/>
              </a:defRPr>
            </a:pPr>
            <a:r>
              <a:t>B1. Chọn gói dịch vụ -&gt; hệ thống lọc bác sĩ theo khoa tương ứng.</a:t>
            </a:r>
          </a:p>
          <a:p>
            <a:pPr>
              <a:spcAft>
                <a:spcPts val="800"/>
              </a:spcAft>
              <a:defRPr sz="2200">
                <a:solidFill>
                  <a:srgbClr val="181818"/>
                </a:solidFill>
                <a:latin typeface="Calibri"/>
              </a:defRPr>
            </a:pPr>
            <a:r>
              <a:t>B2. Chọn ngày/ca chỉ từ lịch làm việc đã duyệt.</a:t>
            </a:r>
          </a:p>
          <a:p>
            <a:pPr>
              <a:spcAft>
                <a:spcPts val="800"/>
              </a:spcAft>
              <a:defRPr sz="2200">
                <a:solidFill>
                  <a:srgbClr val="181818"/>
                </a:solidFill>
                <a:latin typeface="Calibri"/>
              </a:defRPr>
            </a:pPr>
            <a:r>
              <a:t>B3. Tạo lịch khám trạng thái CHO_XAC_NHAN.</a:t>
            </a:r>
          </a:p>
          <a:p>
            <a:pPr>
              <a:spcAft>
                <a:spcPts val="800"/>
              </a:spcAft>
              <a:defRPr sz="2200">
                <a:solidFill>
                  <a:srgbClr val="181818"/>
                </a:solidFill>
                <a:latin typeface="Calibri"/>
              </a:defRPr>
            </a:pPr>
            <a:r>
              <a:t>B4. Có thể tra cứu hồ sơ theo CCCD và in phiếu đặt lịch PDF.</a:t>
            </a:r>
          </a:p>
          <a:p>
            <a:pPr>
              <a:spcAft>
                <a:spcPts val="800"/>
              </a:spcAft>
              <a:defRPr sz="2200">
                <a:solidFill>
                  <a:srgbClr val="181818"/>
                </a:solidFill>
                <a:latin typeface="Calibri"/>
              </a:defRPr>
            </a:pPr>
            <a:r>
              <a:t>Giá trị mang lại: giảm xung đột lịch và chuẩn hóa đầu vào cho bác sĩ.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38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28282"/>
                </a:solidFill>
                <a:latin typeface="Calibri"/>
              </a:defRPr>
            </a:pPr>
            <a:r>
              <a:t>Đồ án Quản Lý Phòng Khám Bệnh - Nhóm thực hiện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AFAFA"/>
                </a:solidFill>
                <a:latin typeface="Calibri"/>
              </a:defRPr>
            </a:pPr>
            <a:r>
              <a:t>Luồng 2: Bác sĩ xử lý khám bệnh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81818"/>
                </a:solidFill>
                <a:latin typeface="Calibri"/>
              </a:defRPr>
            </a:pPr>
            <a:r>
              <a:t>B1. Bác sĩ xem lịch khám được gán và xác nhận/hủy theo quy tắc trạng thái.</a:t>
            </a:r>
          </a:p>
          <a:p>
            <a:pPr>
              <a:spcAft>
                <a:spcPts val="800"/>
              </a:spcAft>
              <a:defRPr sz="2200">
                <a:solidFill>
                  <a:srgbClr val="181818"/>
                </a:solidFill>
                <a:latin typeface="Calibri"/>
              </a:defRPr>
            </a:pPr>
            <a:r>
              <a:t>B2. Sau khám, lập hồ sơ bệnh án: triệu chứng, chẩn đoán, kết luận, lời dặn.</a:t>
            </a:r>
          </a:p>
          <a:p>
            <a:pPr>
              <a:spcAft>
                <a:spcPts val="800"/>
              </a:spcAft>
              <a:defRPr sz="2200">
                <a:solidFill>
                  <a:srgbClr val="181818"/>
                </a:solidFill>
                <a:latin typeface="Calibri"/>
              </a:defRPr>
            </a:pPr>
            <a:r>
              <a:t>B3. Kê đơn thuốc: kiểm tra số lượng tồn trước khi lưu.</a:t>
            </a:r>
          </a:p>
          <a:p>
            <a:pPr>
              <a:spcAft>
                <a:spcPts val="800"/>
              </a:spcAft>
              <a:defRPr sz="2200">
                <a:solidFill>
                  <a:srgbClr val="181818"/>
                </a:solidFill>
                <a:latin typeface="Calibri"/>
              </a:defRPr>
            </a:pPr>
            <a:r>
              <a:t>B4. Hóa đơn khám được quản lý trạng thái thanh toán rõ ràng.</a:t>
            </a:r>
          </a:p>
          <a:p>
            <a:pPr>
              <a:spcAft>
                <a:spcPts val="800"/>
              </a:spcAft>
              <a:defRPr sz="2200">
                <a:solidFill>
                  <a:srgbClr val="181818"/>
                </a:solidFill>
                <a:latin typeface="Calibri"/>
              </a:defRPr>
            </a:pPr>
            <a:r>
              <a:t>Ràng buộc quan trọng: không cho sửa/xóa sai trạng thái đã hoàn tất.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38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28282"/>
                </a:solidFill>
                <a:latin typeface="Calibri"/>
              </a:defRPr>
            </a:pPr>
            <a:r>
              <a:t>Đồ án Quản Lý Phòng Khám Bệnh - Nhóm thực hiện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AFAFA"/>
                </a:solidFill>
                <a:latin typeface="Calibri"/>
              </a:defRPr>
            </a:pPr>
            <a:r>
              <a:t>Luồng 3: Nhà thuốc và kho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81818"/>
                </a:solidFill>
                <a:latin typeface="Calibri"/>
              </a:defRPr>
            </a:pPr>
            <a:r>
              <a:t>B1. Tạo phiếu nhập: chọn NCC, thêm thuốc theo số lô và hạn sử dụng.</a:t>
            </a:r>
          </a:p>
          <a:p>
            <a:pPr>
              <a:spcAft>
                <a:spcPts val="800"/>
              </a:spcAft>
              <a:defRPr sz="2200">
                <a:solidFill>
                  <a:srgbClr val="181818"/>
                </a:solidFill>
                <a:latin typeface="Calibri"/>
              </a:defRPr>
            </a:pPr>
            <a:r>
              <a:t>B2. Xác nhận nhập kho làm tăng tồn và tạo dữ liệu truy vết lô.</a:t>
            </a:r>
          </a:p>
          <a:p>
            <a:pPr>
              <a:spcAft>
                <a:spcPts val="800"/>
              </a:spcAft>
              <a:defRPr sz="2200">
                <a:solidFill>
                  <a:srgbClr val="181818"/>
                </a:solidFill>
                <a:latin typeface="Calibri"/>
              </a:defRPr>
            </a:pPr>
            <a:r>
              <a:t>B3. Tạo hóa đơn thuốc từ đơn hoặc bán lẻ cho khách không đơn.</a:t>
            </a:r>
          </a:p>
          <a:p>
            <a:pPr>
              <a:spcAft>
                <a:spcPts val="800"/>
              </a:spcAft>
              <a:defRPr sz="2200">
                <a:solidFill>
                  <a:srgbClr val="181818"/>
                </a:solidFill>
                <a:latin typeface="Calibri"/>
              </a:defRPr>
            </a:pPr>
            <a:r>
              <a:t>B4. Quy trình thanh toán/lấy thuốc theo trạng thái; hỗ trợ xuất CSV truy vết.</a:t>
            </a:r>
          </a:p>
          <a:p>
            <a:pPr>
              <a:spcAft>
                <a:spcPts val="800"/>
              </a:spcAft>
              <a:defRPr sz="2200">
                <a:solidFill>
                  <a:srgbClr val="181818"/>
                </a:solidFill>
                <a:latin typeface="Calibri"/>
              </a:defRPr>
            </a:pPr>
            <a:r>
              <a:t>Điểm mạnh: mô hình lô thuốc hỗ trợ kiểm soát hạn dùng và tồn kho thực tế.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38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28282"/>
                </a:solidFill>
                <a:latin typeface="Calibri"/>
              </a:defRPr>
            </a:pPr>
            <a:r>
              <a:t>Đồ án Quản Lý Phòng Khám Bệnh - Nhóm thực hiện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AFAFA"/>
                </a:solidFill>
                <a:latin typeface="Calibri"/>
              </a:defRPr>
            </a:pPr>
            <a:r>
              <a:t>Luồng 4: Quản trị và điều hành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81818"/>
                </a:solidFill>
                <a:latin typeface="Calibri"/>
              </a:defRPr>
            </a:pPr>
            <a:r>
              <a:t>Dashboard: doanh thu 6 tháng, lịch khám hôm nay, cảnh báo thuốc cận hạn/tồn thấp.</a:t>
            </a:r>
          </a:p>
          <a:p>
            <a:pPr>
              <a:spcAft>
                <a:spcPts val="800"/>
              </a:spcAft>
              <a:defRPr sz="2200">
                <a:solidFill>
                  <a:srgbClr val="181818"/>
                </a:solidFill>
                <a:latin typeface="Calibri"/>
              </a:defRPr>
            </a:pPr>
            <a:r>
              <a:t>Quản lý tài khoản: thêm/sửa/khóa-mở/reset mật khẩu.</a:t>
            </a:r>
          </a:p>
          <a:p>
            <a:pPr>
              <a:spcAft>
                <a:spcPts val="800"/>
              </a:spcAft>
              <a:defRPr sz="2200">
                <a:solidFill>
                  <a:srgbClr val="181818"/>
                </a:solidFill>
                <a:latin typeface="Calibri"/>
              </a:defRPr>
            </a:pPr>
            <a:r>
              <a:t>Quản lý bác sĩ/khoa/gói dịch vụ và duyệt lịch làm.</a:t>
            </a:r>
          </a:p>
          <a:p>
            <a:pPr>
              <a:spcAft>
                <a:spcPts val="800"/>
              </a:spcAft>
              <a:defRPr sz="2200">
                <a:solidFill>
                  <a:srgbClr val="181818"/>
                </a:solidFill>
                <a:latin typeface="Calibri"/>
              </a:defRPr>
            </a:pPr>
            <a:r>
              <a:t>Phân quyền role-permission trực tiếp trên dữ liệu để thay đổi quyền vận hành tức thì.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38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28282"/>
                </a:solidFill>
                <a:latin typeface="Calibri"/>
              </a:defRPr>
            </a:pPr>
            <a:r>
              <a:t>Đồ án Quản Lý Phòng Khám Bệnh - Nhóm thực hiện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AFAFA"/>
                </a:solidFill>
                <a:latin typeface="Calibri"/>
              </a:defRPr>
            </a:pPr>
            <a:r>
              <a:t>Thiết kế dữ liệu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144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06060"/>
                </a:solidFill>
                <a:latin typeface="Calibri"/>
              </a:defRPr>
            </a:pPr>
            <a:r>
              <a:t>Nhóm bảng chính và ý nghĩa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38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28282"/>
                </a:solidFill>
                <a:latin typeface="Calibri"/>
              </a:defRPr>
            </a:pPr>
            <a:r>
              <a:t>Đồ án Quản Lý Phòng Khám Bệnh - Nhóm thực hiện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0A84FF"/>
                </a:solidFill>
                <a:latin typeface="Calibri"/>
              </a:defRPr>
            </a:pPr>
            <a:r>
              <a:t>Nhóm bảng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32588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0A84FF"/>
                </a:solidFill>
                <a:latin typeface="Calibri"/>
              </a:defRPr>
            </a:pPr>
            <a:r>
              <a:t>Ý nghĩa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81818"/>
                </a:solidFill>
                <a:latin typeface="Calibri"/>
              </a:defRPr>
            </a:pPr>
            <a:r>
              <a:t>Users, Roles, Permissions, RolePermissions</a:t>
            </a:r>
          </a:p>
          <a:p>
            <a:pPr>
              <a:spcAft>
                <a:spcPts val="800"/>
              </a:spcAft>
              <a:defRPr sz="1800">
                <a:solidFill>
                  <a:srgbClr val="181818"/>
                </a:solidFill>
                <a:latin typeface="Calibri"/>
              </a:defRPr>
            </a:pPr>
            <a:r>
              <a:t>BacSi, Khoa, LichLamViec, LichKham, HoSoBenhAn</a:t>
            </a:r>
          </a:p>
          <a:p>
            <a:pPr>
              <a:spcAft>
                <a:spcPts val="800"/>
              </a:spcAft>
              <a:defRPr sz="1800">
                <a:solidFill>
                  <a:srgbClr val="181818"/>
                </a:solidFill>
                <a:latin typeface="Calibri"/>
              </a:defRPr>
            </a:pPr>
            <a:r>
              <a:t>DonThuoc, CTDonThuoc, HoaDonKham</a:t>
            </a:r>
          </a:p>
          <a:p>
            <a:pPr>
              <a:spcAft>
                <a:spcPts val="800"/>
              </a:spcAft>
              <a:defRPr sz="1800">
                <a:solidFill>
                  <a:srgbClr val="181818"/>
                </a:solidFill>
                <a:latin typeface="Calibri"/>
              </a:defRPr>
            </a:pPr>
            <a:r>
              <a:t>Thuoc, NhaCungCap, PhieuNhap, CTPhieuNhap</a:t>
            </a:r>
          </a:p>
          <a:p>
            <a:pPr>
              <a:spcAft>
                <a:spcPts val="800"/>
              </a:spcAft>
              <a:defRPr sz="1800">
                <a:solidFill>
                  <a:srgbClr val="181818"/>
                </a:solidFill>
                <a:latin typeface="Calibri"/>
              </a:defRPr>
            </a:pPr>
            <a:r>
              <a:t>HoaDonThuoc, CTHDThuoc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73736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81818"/>
                </a:solidFill>
                <a:latin typeface="Calibri"/>
              </a:defRPr>
            </a:pPr>
            <a:r>
              <a:t>Phân quyền linh hoạt theo RBAC</a:t>
            </a:r>
          </a:p>
          <a:p>
            <a:pPr>
              <a:spcAft>
                <a:spcPts val="800"/>
              </a:spcAft>
              <a:defRPr sz="1800">
                <a:solidFill>
                  <a:srgbClr val="181818"/>
                </a:solidFill>
                <a:latin typeface="Calibri"/>
              </a:defRPr>
            </a:pPr>
            <a:r>
              <a:t>Chuỗi nghiệp vụ khám bệnh đầy đủ từ lịch -&gt; bệnh án</a:t>
            </a:r>
          </a:p>
          <a:p>
            <a:pPr>
              <a:spcAft>
                <a:spcPts val="800"/>
              </a:spcAft>
              <a:defRPr sz="1800">
                <a:solidFill>
                  <a:srgbClr val="181818"/>
                </a:solidFill>
                <a:latin typeface="Calibri"/>
              </a:defRPr>
            </a:pPr>
            <a:r>
              <a:t>Kê đơn và thanh toán dịch vụ khám</a:t>
            </a:r>
          </a:p>
          <a:p>
            <a:pPr>
              <a:spcAft>
                <a:spcPts val="800"/>
              </a:spcAft>
              <a:defRPr sz="1800">
                <a:solidFill>
                  <a:srgbClr val="181818"/>
                </a:solidFill>
                <a:latin typeface="Calibri"/>
              </a:defRPr>
            </a:pPr>
            <a:r>
              <a:t>Nhập kho theo lô-hạn dùng, giữ lịch sử biến động</a:t>
            </a:r>
          </a:p>
          <a:p>
            <a:pPr>
              <a:spcAft>
                <a:spcPts val="800"/>
              </a:spcAft>
              <a:defRPr sz="1800">
                <a:solidFill>
                  <a:srgbClr val="181818"/>
                </a:solidFill>
                <a:latin typeface="Calibri"/>
              </a:defRPr>
            </a:pPr>
            <a:r>
              <a:t>Bán thuốc và truy vết xuất kho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AFAFA"/>
                </a:solidFill>
                <a:latin typeface="Calibri"/>
              </a:defRPr>
            </a:pPr>
            <a:r>
              <a:t>Ràng buộc dữ liệu tiêu biểu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81818"/>
                </a:solidFill>
                <a:latin typeface="Calibri"/>
              </a:defRPr>
            </a:pPr>
            <a:r>
              <a:t>UNIQUE(MaBacSi, NgayLam, CaLam): ngăn đăng ký trùng ca làm.</a:t>
            </a:r>
          </a:p>
          <a:p>
            <a:pPr>
              <a:spcAft>
                <a:spcPts val="800"/>
              </a:spcAft>
              <a:defRPr sz="2200">
                <a:solidFill>
                  <a:srgbClr val="181818"/>
                </a:solidFill>
                <a:latin typeface="Calibri"/>
              </a:defRPr>
            </a:pPr>
            <a:r>
              <a:t>CHECK(CaLam in Sang/Chieu/Toi): chuẩn hóa giá trị lịch làm.</a:t>
            </a:r>
          </a:p>
          <a:p>
            <a:pPr>
              <a:spcAft>
                <a:spcPts val="800"/>
              </a:spcAft>
              <a:defRPr sz="2200">
                <a:solidFill>
                  <a:srgbClr val="181818"/>
                </a:solidFill>
                <a:latin typeface="Calibri"/>
              </a:defRPr>
            </a:pPr>
            <a:r>
              <a:t>UNIQUE(MaPhieuNhap, MaThuoc, SoLo, HanSuDung): không trùng lô nhập.</a:t>
            </a:r>
          </a:p>
          <a:p>
            <a:pPr>
              <a:spcAft>
                <a:spcPts val="800"/>
              </a:spcAft>
              <a:defRPr sz="2200">
                <a:solidFill>
                  <a:srgbClr val="181818"/>
                </a:solidFill>
                <a:latin typeface="Calibri"/>
              </a:defRPr>
            </a:pPr>
            <a:r>
              <a:t>SoLuongTon &gt;= 0 và kiểm tra nghiệp vụ trước thao tác trừ tồn.</a:t>
            </a:r>
          </a:p>
          <a:p>
            <a:pPr>
              <a:spcAft>
                <a:spcPts val="800"/>
              </a:spcAft>
              <a:defRPr sz="2200">
                <a:solidFill>
                  <a:srgbClr val="181818"/>
                </a:solidFill>
                <a:latin typeface="Calibri"/>
              </a:defRPr>
            </a:pPr>
            <a:r>
              <a:t>Hóa đơn đã thanh toán không cho xóa để bảo toàn tính toàn vẹn nghiệp vụ.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38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28282"/>
                </a:solidFill>
                <a:latin typeface="Calibri"/>
              </a:defRPr>
            </a:pPr>
            <a:r>
              <a:t>Đồ án Quản Lý Phòng Khám Bệnh - Nhóm thực hiện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AFAFA"/>
                </a:solidFill>
                <a:latin typeface="Calibri"/>
              </a:defRPr>
            </a:pPr>
            <a:r>
              <a:t>Điểm nhấn kỹ thuật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11338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28282"/>
                </a:solidFill>
                <a:latin typeface="Calibri"/>
              </a:defRPr>
            </a:pPr>
            <a:r>
              <a:t>Đồ án Quản Lý Phòng Khám Bệnh - Nhóm thực hiện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0A84FF"/>
                </a:solidFill>
                <a:latin typeface="Calibri"/>
              </a:defRPr>
            </a:pPr>
            <a:r>
              <a:t>Nền tảng kỹ thuật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32588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0A84FF"/>
                </a:solidFill>
                <a:latin typeface="Calibri"/>
              </a:defRPr>
            </a:pPr>
            <a:r>
              <a:t>Giá trị thực tiễn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81818"/>
                </a:solidFill>
                <a:latin typeface="Calibri"/>
              </a:defRPr>
            </a:pPr>
            <a:r>
              <a:t>Java Swing + FlatLaf cho desktop UI hiện đại</a:t>
            </a:r>
          </a:p>
          <a:p>
            <a:pPr>
              <a:spcAft>
                <a:spcPts val="800"/>
              </a:spcAft>
              <a:defRPr sz="1800">
                <a:solidFill>
                  <a:srgbClr val="181818"/>
                </a:solidFill>
                <a:latin typeface="Calibri"/>
              </a:defRPr>
            </a:pPr>
            <a:r>
              <a:t>CardLayout cho điều hướng panel theo route</a:t>
            </a:r>
          </a:p>
          <a:p>
            <a:pPr>
              <a:spcAft>
                <a:spcPts val="800"/>
              </a:spcAft>
              <a:defRPr sz="1800">
                <a:solidFill>
                  <a:srgbClr val="181818"/>
                </a:solidFill>
                <a:latin typeface="Calibri"/>
              </a:defRPr>
            </a:pPr>
            <a:r>
              <a:t>HikariCP pooling (max 12, min idle 2)</a:t>
            </a:r>
          </a:p>
          <a:p>
            <a:pPr>
              <a:spcAft>
                <a:spcPts val="800"/>
              </a:spcAft>
              <a:defRPr sz="1800">
                <a:solidFill>
                  <a:srgbClr val="181818"/>
                </a:solidFill>
                <a:latin typeface="Calibri"/>
              </a:defRPr>
            </a:pPr>
            <a:r>
              <a:t>PreparedStatement và cache câu lệnh</a:t>
            </a:r>
          </a:p>
          <a:p>
            <a:pPr>
              <a:spcAft>
                <a:spcPts val="800"/>
              </a:spcAft>
              <a:defRPr sz="1800">
                <a:solidFill>
                  <a:srgbClr val="181818"/>
                </a:solidFill>
                <a:latin typeface="Calibri"/>
              </a:defRPr>
            </a:pPr>
            <a:r>
              <a:t>Xuất PDF/CSV phục vụ vận hành thực tế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73736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81818"/>
                </a:solidFill>
                <a:latin typeface="Calibri"/>
              </a:defRPr>
            </a:pPr>
            <a:r>
              <a:t>Tốc độ phản hồi ổn định khi thao tác nhiều màn hình</a:t>
            </a:r>
          </a:p>
          <a:p>
            <a:pPr>
              <a:spcAft>
                <a:spcPts val="800"/>
              </a:spcAft>
              <a:defRPr sz="1800">
                <a:solidFill>
                  <a:srgbClr val="181818"/>
                </a:solidFill>
                <a:latin typeface="Calibri"/>
              </a:defRPr>
            </a:pPr>
            <a:r>
              <a:t>Giảm lỗi SQL injection và lỗi nhập liệu</a:t>
            </a:r>
          </a:p>
          <a:p>
            <a:pPr>
              <a:spcAft>
                <a:spcPts val="800"/>
              </a:spcAft>
              <a:defRPr sz="1800">
                <a:solidFill>
                  <a:srgbClr val="181818"/>
                </a:solidFill>
                <a:latin typeface="Calibri"/>
              </a:defRPr>
            </a:pPr>
            <a:r>
              <a:t>Dễ bảo trì vì tách tầng rõ ràng</a:t>
            </a:r>
          </a:p>
          <a:p>
            <a:pPr>
              <a:spcAft>
                <a:spcPts val="800"/>
              </a:spcAft>
              <a:defRPr sz="1800">
                <a:solidFill>
                  <a:srgbClr val="181818"/>
                </a:solidFill>
                <a:latin typeface="Calibri"/>
              </a:defRPr>
            </a:pPr>
            <a:r>
              <a:t>Bám sát nghiệp vụ thực tế phòng khám + nhà thuốc</a:t>
            </a:r>
          </a:p>
          <a:p>
            <a:pPr>
              <a:spcAft>
                <a:spcPts val="800"/>
              </a:spcAft>
              <a:defRPr sz="1800">
                <a:solidFill>
                  <a:srgbClr val="181818"/>
                </a:solidFill>
                <a:latin typeface="Calibri"/>
              </a:defRPr>
            </a:pPr>
            <a:r>
              <a:t>Có thể nâng cấp dần lên web/service trong tương lai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AFAFA"/>
                </a:solidFill>
                <a:latin typeface="Calibri"/>
              </a:defRPr>
            </a:pPr>
            <a:r>
              <a:t>Đánh giá khách quan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144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06060"/>
                </a:solidFill>
                <a:latin typeface="Calibri"/>
              </a:defRPr>
            </a:pPr>
            <a:r>
              <a:t>Điểm mạnh và điểm cần cải tiến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38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28282"/>
                </a:solidFill>
                <a:latin typeface="Calibri"/>
              </a:defRPr>
            </a:pPr>
            <a:r>
              <a:t>Đồ án Quản Lý Phòng Khám Bệnh - Nhóm thực hiện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0A84FF"/>
                </a:solidFill>
                <a:latin typeface="Calibri"/>
              </a:defRPr>
            </a:pPr>
            <a:r>
              <a:t>Điểm mạnh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32588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0A84FF"/>
                </a:solidFill>
                <a:latin typeface="Calibri"/>
              </a:defRPr>
            </a:pPr>
            <a:r>
              <a:t>Cần cải tiến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81818"/>
                </a:solidFill>
                <a:latin typeface="Calibri"/>
              </a:defRPr>
            </a:pPr>
            <a:r>
              <a:t>Phân lớp rõ, module hóa tốt, code dễ đọc</a:t>
            </a:r>
          </a:p>
          <a:p>
            <a:pPr>
              <a:spcAft>
                <a:spcPts val="800"/>
              </a:spcAft>
              <a:defRPr sz="1800">
                <a:solidFill>
                  <a:srgbClr val="181818"/>
                </a:solidFill>
                <a:latin typeface="Calibri"/>
              </a:defRPr>
            </a:pPr>
            <a:r>
              <a:t>RBAC động đổi quyền không cần build lại</a:t>
            </a:r>
          </a:p>
          <a:p>
            <a:pPr>
              <a:spcAft>
                <a:spcPts val="800"/>
              </a:spcAft>
              <a:defRPr sz="1800">
                <a:solidFill>
                  <a:srgbClr val="181818"/>
                </a:solidFill>
                <a:latin typeface="Calibri"/>
              </a:defRPr>
            </a:pPr>
            <a:r>
              <a:t>Quản lý theo trạng thái nghiệp vụ chặt chẽ</a:t>
            </a:r>
          </a:p>
          <a:p>
            <a:pPr>
              <a:spcAft>
                <a:spcPts val="800"/>
              </a:spcAft>
              <a:defRPr sz="1800">
                <a:solidFill>
                  <a:srgbClr val="181818"/>
                </a:solidFill>
                <a:latin typeface="Calibri"/>
              </a:defRPr>
            </a:pPr>
            <a:r>
              <a:t>Truy vết lô thuốc hỗ trợ kiểm toán</a:t>
            </a:r>
          </a:p>
          <a:p>
            <a:pPr>
              <a:spcAft>
                <a:spcPts val="800"/>
              </a:spcAft>
              <a:defRPr sz="1800">
                <a:solidFill>
                  <a:srgbClr val="181818"/>
                </a:solidFill>
                <a:latin typeface="Calibri"/>
              </a:defRPr>
            </a:pPr>
            <a:r>
              <a:t>Có sẵn nhiều báo cáo xuất 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73736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81818"/>
                </a:solidFill>
                <a:latin typeface="Calibri"/>
              </a:defRPr>
            </a:pPr>
            <a:r>
              <a:t>Thiếu transaction bao bọc các thao tác nhiều bước</a:t>
            </a:r>
          </a:p>
          <a:p>
            <a:pPr>
              <a:spcAft>
                <a:spcPts val="800"/>
              </a:spcAft>
              <a:defRPr sz="1800">
                <a:solidFill>
                  <a:srgbClr val="181818"/>
                </a:solidFill>
                <a:latin typeface="Calibri"/>
              </a:defRPr>
            </a:pPr>
            <a:r>
              <a:t>Chưa có audit log chi tiết cho thay đổi quyền/dữ liệu</a:t>
            </a:r>
          </a:p>
          <a:p>
            <a:pPr>
              <a:spcAft>
                <a:spcPts val="800"/>
              </a:spcAft>
              <a:defRPr sz="1800">
                <a:solidFill>
                  <a:srgbClr val="181818"/>
                </a:solidFill>
                <a:latin typeface="Calibri"/>
              </a:defRPr>
            </a:pPr>
            <a:r>
              <a:t>Error logging chưa tập trung theo chuẩn production</a:t>
            </a:r>
          </a:p>
          <a:p>
            <a:pPr>
              <a:spcAft>
                <a:spcPts val="800"/>
              </a:spcAft>
              <a:defRPr sz="1800">
                <a:solidFill>
                  <a:srgbClr val="181818"/>
                </a:solidFill>
                <a:latin typeface="Calibri"/>
              </a:defRPr>
            </a:pPr>
            <a:r>
              <a:t>UI và business logic còn dính nhau ở vài màn hình</a:t>
            </a:r>
          </a:p>
          <a:p>
            <a:pPr>
              <a:spcAft>
                <a:spcPts val="800"/>
              </a:spcAft>
              <a:defRPr sz="1800">
                <a:solidFill>
                  <a:srgbClr val="181818"/>
                </a:solidFill>
                <a:latin typeface="Calibri"/>
              </a:defRPr>
            </a:pPr>
            <a:r>
              <a:t>Cần bổ sung test tự động sâu hơn cho BUS/DAO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AFAFA"/>
                </a:solidFill>
                <a:latin typeface="Calibri"/>
              </a:defRPr>
            </a:pPr>
            <a:r>
              <a:t>Kịch bản demo đề xuất (15-20 phút)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81818"/>
                </a:solidFill>
                <a:latin typeface="Calibri"/>
              </a:defRPr>
            </a:pPr>
            <a:r>
              <a:t>Phần 1 (3 phút): Đăng nhập 4 vai trò để thấy menu thay đổi theo quyền.</a:t>
            </a:r>
          </a:p>
          <a:p>
            <a:pPr>
              <a:spcAft>
                <a:spcPts val="800"/>
              </a:spcAft>
              <a:defRPr sz="2200">
                <a:solidFill>
                  <a:srgbClr val="181818"/>
                </a:solidFill>
                <a:latin typeface="Calibri"/>
              </a:defRPr>
            </a:pPr>
            <a:r>
              <a:t>Phần 2 (5 phút): Guest đặt lịch -&gt; Doctor xác nhận -&gt; lập bệnh án + đơn.</a:t>
            </a:r>
          </a:p>
          <a:p>
            <a:pPr>
              <a:spcAft>
                <a:spcPts val="800"/>
              </a:spcAft>
              <a:defRPr sz="2200">
                <a:solidFill>
                  <a:srgbClr val="181818"/>
                </a:solidFill>
                <a:latin typeface="Calibri"/>
              </a:defRPr>
            </a:pPr>
            <a:r>
              <a:t>Phần 3 (5 phút): Pharmacist nhập kho theo lô -&gt; bán thuốc -&gt; xuất CSV truy vết.</a:t>
            </a:r>
          </a:p>
          <a:p>
            <a:pPr>
              <a:spcAft>
                <a:spcPts val="800"/>
              </a:spcAft>
              <a:defRPr sz="2200">
                <a:solidFill>
                  <a:srgbClr val="181818"/>
                </a:solidFill>
                <a:latin typeface="Calibri"/>
              </a:defRPr>
            </a:pPr>
            <a:r>
              <a:t>Phần 4 (3 phút): Admin đổi quyền ngay trên Phân quyền và kiểm tra hiệu lực.</a:t>
            </a:r>
          </a:p>
          <a:p>
            <a:pPr>
              <a:spcAft>
                <a:spcPts val="800"/>
              </a:spcAft>
              <a:defRPr sz="2200">
                <a:solidFill>
                  <a:srgbClr val="181818"/>
                </a:solidFill>
                <a:latin typeface="Calibri"/>
              </a:defRPr>
            </a:pPr>
            <a:r>
              <a:t>Phần 5 (2 phút): Mở Dashboard, giải thích số liệu vận hành và cảnh báo.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38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28282"/>
                </a:solidFill>
                <a:latin typeface="Calibri"/>
              </a:defRPr>
            </a:pPr>
            <a:r>
              <a:t>Đồ án Quản Lý Phòng Khám Bệnh - Nhóm thực hiện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AFAFA"/>
                </a:solidFill>
                <a:latin typeface="Calibri"/>
              </a:defRPr>
            </a:pPr>
            <a:r>
              <a:t>Câu hỏi phản biện thường gặp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81818"/>
                </a:solidFill>
                <a:latin typeface="Calibri"/>
              </a:defRPr>
            </a:pPr>
            <a:r>
              <a:t>Vì sao chọn desktop Swing thay vì web ngay từ đầu?</a:t>
            </a:r>
          </a:p>
          <a:p>
            <a:pPr lvl="1">
              <a:spcAft>
                <a:spcPts val="800"/>
              </a:spcAft>
              <a:defRPr sz="1900">
                <a:solidFill>
                  <a:srgbClr val="181818"/>
                </a:solidFill>
                <a:latin typeface="Calibri"/>
              </a:defRPr>
            </a:pPr>
            <a:r>
              <a:t>Trả lời: phù hợp đồ án quản trị nội bộ, triển khai nhanh, dễ kiểm soát local dataflow.</a:t>
            </a:r>
          </a:p>
          <a:p>
            <a:pPr>
              <a:spcAft>
                <a:spcPts val="800"/>
              </a:spcAft>
              <a:defRPr sz="2200">
                <a:solidFill>
                  <a:srgbClr val="181818"/>
                </a:solidFill>
                <a:latin typeface="Calibri"/>
              </a:defRPr>
            </a:pPr>
            <a:r>
              <a:t>RBAC động có đảm bảo an toàn truy cập route?</a:t>
            </a:r>
          </a:p>
          <a:p>
            <a:pPr lvl="1">
              <a:spcAft>
                <a:spcPts val="800"/>
              </a:spcAft>
              <a:defRPr sz="1900">
                <a:solidFill>
                  <a:srgbClr val="181818"/>
                </a:solidFill>
                <a:latin typeface="Calibri"/>
              </a:defRPr>
            </a:pPr>
            <a:r>
              <a:t>Trả lời: có chặn 2 lớp: ẩn menu ở Sidebar và chặn route tại MainFrame.canAccess.</a:t>
            </a:r>
          </a:p>
          <a:p>
            <a:pPr>
              <a:spcAft>
                <a:spcPts val="800"/>
              </a:spcAft>
              <a:defRPr sz="2200">
                <a:solidFill>
                  <a:srgbClr val="181818"/>
                </a:solidFill>
                <a:latin typeface="Calibri"/>
              </a:defRPr>
            </a:pPr>
            <a:r>
              <a:t>Làm sao đảm bảo dữ liệu tồn kho đúng?</a:t>
            </a:r>
          </a:p>
          <a:p>
            <a:pPr lvl="1">
              <a:spcAft>
                <a:spcPts val="800"/>
              </a:spcAft>
              <a:defRPr sz="1900">
                <a:solidFill>
                  <a:srgbClr val="181818"/>
                </a:solidFill>
                <a:latin typeface="Calibri"/>
              </a:defRPr>
            </a:pPr>
            <a:r>
              <a:t>Trả lời: ràng buộc SQL + kiểm tra BUS trước ghi + truy vết theo lô/hạn dùng.</a:t>
            </a:r>
          </a:p>
          <a:p>
            <a:pPr>
              <a:spcAft>
                <a:spcPts val="800"/>
              </a:spcAft>
              <a:defRPr sz="2200">
                <a:solidFill>
                  <a:srgbClr val="181818"/>
                </a:solidFill>
                <a:latin typeface="Calibri"/>
              </a:defRPr>
            </a:pPr>
            <a:r>
              <a:t>Hướng nâng cấp tương lai?</a:t>
            </a:r>
          </a:p>
          <a:p>
            <a:pPr lvl="1">
              <a:spcAft>
                <a:spcPts val="800"/>
              </a:spcAft>
              <a:defRPr sz="1900">
                <a:solidFill>
                  <a:srgbClr val="181818"/>
                </a:solidFill>
                <a:latin typeface="Calibri"/>
              </a:defRPr>
            </a:pPr>
            <a:r>
              <a:t>Trả lời: tách BUS/DAO thành service layer, bổ sung API và unit/integration tests.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38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28282"/>
                </a:solidFill>
                <a:latin typeface="Calibri"/>
              </a:defRPr>
            </a:pPr>
            <a:r>
              <a:t>Đồ án Quản Lý Phòng Khám Bệnh - Nhóm thực hiện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AFAFA"/>
                </a:solidFill>
                <a:latin typeface="Calibri"/>
              </a:defRPr>
            </a:pPr>
            <a:r>
              <a:t>Tổ chức triển khai và phân công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81818"/>
                </a:solidFill>
                <a:latin typeface="Calibri"/>
              </a:defRPr>
            </a:pPr>
            <a:r>
              <a:t>Thiết kế dữ liệu và migration script: chuẩn hóa quan hệ bảng và constraint.</a:t>
            </a:r>
          </a:p>
          <a:p>
            <a:pPr>
              <a:spcAft>
                <a:spcPts val="800"/>
              </a:spcAft>
              <a:defRPr sz="2200">
                <a:solidFill>
                  <a:srgbClr val="181818"/>
                </a:solidFill>
                <a:latin typeface="Calibri"/>
              </a:defRPr>
            </a:pPr>
            <a:r>
              <a:t>Phát triển nghiệp vụ theo module: Guest, Doctor, Pharmacy, Admin.</a:t>
            </a:r>
          </a:p>
          <a:p>
            <a:pPr>
              <a:spcAft>
                <a:spcPts val="800"/>
              </a:spcAft>
              <a:defRPr sz="2200">
                <a:solidFill>
                  <a:srgbClr val="181818"/>
                </a:solidFill>
                <a:latin typeface="Calibri"/>
              </a:defRPr>
            </a:pPr>
            <a:r>
              <a:t>Tích hợp tiện ích xuất báo cáo: PDF/CSV cho vận hành.</a:t>
            </a:r>
          </a:p>
          <a:p>
            <a:pPr>
              <a:spcAft>
                <a:spcPts val="800"/>
              </a:spcAft>
              <a:defRPr sz="2200">
                <a:solidFill>
                  <a:srgbClr val="181818"/>
                </a:solidFill>
                <a:latin typeface="Calibri"/>
              </a:defRPr>
            </a:pPr>
            <a:r>
              <a:t>Kiểm thử và rà soát logic trạng thái theo từng luồng.</a:t>
            </a:r>
          </a:p>
          <a:p>
            <a:pPr>
              <a:spcAft>
                <a:spcPts val="800"/>
              </a:spcAft>
              <a:defRPr sz="2200">
                <a:solidFill>
                  <a:srgbClr val="181818"/>
                </a:solidFill>
                <a:latin typeface="Calibri"/>
              </a:defRPr>
            </a:pPr>
            <a:r>
              <a:t>Tài liệu hóa: báo cáo phân tích, ca kiểm thử và slide thuyết trình.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38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28282"/>
                </a:solidFill>
                <a:latin typeface="Calibri"/>
              </a:defRPr>
            </a:pPr>
            <a:r>
              <a:t>Đồ án Quản Lý Phòng Khám Bệnh - Nhóm thực hiện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D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AFAFA"/>
                </a:solidFill>
                <a:latin typeface="Calibri"/>
              </a:defRPr>
            </a:pPr>
            <a:r>
              <a:t>Kết luận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144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DCDCDC"/>
                </a:solidFill>
                <a:latin typeface="Calibri"/>
              </a:defRPr>
            </a:pPr>
            <a:r>
              <a:t>Hệ thống đáp ứng tốt yêu cầu quản lý phòng khám đa vai trò với khả năng mở rộng cao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AFAFA"/>
                </a:solidFill>
                <a:latin typeface="Calibri"/>
              </a:defRPr>
            </a:pPr>
            <a:r>
              <a:t>Đã giải quyết bài toán lõi: khám bệnh, kê đơn, bán thuốc, phân quyền, báo cáo.</a:t>
            </a:r>
          </a:p>
          <a:p>
            <a:pPr>
              <a:spcAft>
                <a:spcPts val="800"/>
              </a:spcAft>
              <a:defRPr sz="2200">
                <a:solidFill>
                  <a:srgbClr val="FAFAFA"/>
                </a:solidFill>
                <a:latin typeface="Calibri"/>
              </a:defRPr>
            </a:pPr>
            <a:r>
              <a:t>Kiến trúc rõ ràng giúp hệ thống dễ bảo trì và nâng cấp.</a:t>
            </a:r>
          </a:p>
          <a:p>
            <a:pPr>
              <a:spcAft>
                <a:spcPts val="800"/>
              </a:spcAft>
              <a:defRPr sz="2200">
                <a:solidFill>
                  <a:srgbClr val="FAFAFA"/>
                </a:solidFill>
                <a:latin typeface="Calibri"/>
              </a:defRPr>
            </a:pPr>
            <a:r>
              <a:t>RBAC động là điểm nhấn tạo khác biệt khi triển khai thực tế.</a:t>
            </a:r>
          </a:p>
          <a:p>
            <a:pPr>
              <a:spcAft>
                <a:spcPts val="800"/>
              </a:spcAft>
              <a:defRPr sz="2200">
                <a:solidFill>
                  <a:srgbClr val="FAFAFA"/>
                </a:solidFill>
                <a:latin typeface="Calibri"/>
              </a:defRPr>
            </a:pPr>
            <a:r>
              <a:t>Sẵn sàng cho giai đoạn cải tiến: transaction, audit log, test automation, API hóa.</a:t>
            </a:r>
          </a:p>
          <a:p>
            <a:pPr>
              <a:spcAft>
                <a:spcPts val="800"/>
              </a:spcAft>
              <a:defRPr sz="2200">
                <a:solidFill>
                  <a:srgbClr val="FAFAFA"/>
                </a:solidFill>
                <a:latin typeface="Calibri"/>
              </a:defRPr>
            </a:pPr>
            <a:r>
              <a:t>Xin cảm ơn thầy/cô và các bạn đã lắng nghe.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11338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28282"/>
                </a:solidFill>
                <a:latin typeface="Calibri"/>
              </a:defRPr>
            </a:pPr>
            <a:r>
              <a:t>Đồ án Quản Lý Phòng Khám Bệnh - Nhóm thực hiện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5349240"/>
            <a:ext cx="4389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4000" b="1">
                <a:solidFill>
                  <a:srgbClr val="00A699"/>
                </a:solidFill>
                <a:latin typeface="Calibri"/>
              </a:defRPr>
            </a:pPr>
            <a: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